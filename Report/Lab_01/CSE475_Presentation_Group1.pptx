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7" r:id="rId12"/>
    <p:sldId id="269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02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6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023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9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10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96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11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6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581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005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9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600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71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813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39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1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712387"/>
          </a:xfrm>
        </p:spPr>
        <p:txBody>
          <a:bodyPr>
            <a:normAutofit fontScale="90000"/>
          </a:bodyPr>
          <a:lstStyle/>
          <a:p>
            <a:r>
              <a:rPr dirty="0"/>
              <a:t>Self-Supervised Learning for Image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 err="1">
                <a:solidFill>
                  <a:schemeClr val="tx1"/>
                </a:solidFill>
              </a:rPr>
              <a:t>SimCLR</a:t>
            </a:r>
            <a:r>
              <a:rPr b="1" dirty="0">
                <a:solidFill>
                  <a:schemeClr val="tx1"/>
                </a:solidFill>
              </a:rPr>
              <a:t>, Barlow Twins, MAE</a:t>
            </a:r>
          </a:p>
          <a:p>
            <a:r>
              <a:rPr b="1" dirty="0" err="1">
                <a:solidFill>
                  <a:schemeClr val="tx1"/>
                </a:solidFill>
              </a:rPr>
              <a:t>GoogleNet</a:t>
            </a:r>
            <a:r>
              <a:rPr b="1" dirty="0">
                <a:solidFill>
                  <a:schemeClr val="tx1"/>
                </a:solidFill>
              </a:rPr>
              <a:t> &amp; ResNet-50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needs large labeled datasets</a:t>
            </a:r>
          </a:p>
          <a:p>
            <a:r>
              <a:t>Labeling is costly and time-consuming</a:t>
            </a:r>
          </a:p>
          <a:p>
            <a:r>
              <a:t>Self-supervised learning uses unlabeled data</a:t>
            </a:r>
          </a:p>
          <a:p>
            <a:r>
              <a:t>Focus: low-label image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GB" dirty="0" err="1"/>
              <a:t>Arsenicosis</a:t>
            </a:r>
            <a:r>
              <a:rPr lang="en-GB" dirty="0"/>
              <a:t> Skin Image Dataset</a:t>
            </a:r>
            <a:endParaRPr lang="en-US" dirty="0"/>
          </a:p>
          <a:p>
            <a:r>
              <a:rPr dirty="0"/>
              <a:t>Total images: 1,287 (binary classes)</a:t>
            </a:r>
          </a:p>
          <a:p>
            <a:r>
              <a:rPr dirty="0" err="1"/>
              <a:t>infacted</a:t>
            </a:r>
            <a:r>
              <a:rPr dirty="0"/>
              <a:t>: 741, </a:t>
            </a:r>
            <a:r>
              <a:rPr dirty="0" err="1"/>
              <a:t>not_infacted</a:t>
            </a:r>
            <a:r>
              <a:rPr dirty="0"/>
              <a:t>: 546</a:t>
            </a:r>
          </a:p>
          <a:p>
            <a:r>
              <a:rPr dirty="0"/>
              <a:t>Moderate class imbalance</a:t>
            </a:r>
          </a:p>
          <a:p>
            <a:r>
              <a:rPr dirty="0"/>
              <a:t>No duplicate images detected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Resize images to 256×256 with padding</a:t>
            </a:r>
          </a:p>
          <a:p>
            <a:r>
              <a:rPr dirty="0"/>
              <a:t>Strong augmentations applied</a:t>
            </a:r>
          </a:p>
          <a:p>
            <a:r>
              <a:rPr dirty="0"/>
              <a:t>Noise analysis via Laplacian variance</a:t>
            </a:r>
          </a:p>
          <a:p>
            <a:r>
              <a:rPr dirty="0"/>
              <a:t>EDA supports SSL 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9CAF68-E21D-0984-ACC3-7EB89CFA0549}"/>
              </a:ext>
            </a:extLst>
          </p:cNvPr>
          <p:cNvSpPr txBox="1"/>
          <p:nvPr/>
        </p:nvSpPr>
        <p:spPr>
          <a:xfrm>
            <a:off x="2088356" y="1116568"/>
            <a:ext cx="5817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/>
              <a:t>Backbone Architectures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F2947A-E0F8-3EFB-0F2B-672204ECD42F}"/>
              </a:ext>
            </a:extLst>
          </p:cNvPr>
          <p:cNvSpPr txBox="1"/>
          <p:nvPr/>
        </p:nvSpPr>
        <p:spPr>
          <a:xfrm>
            <a:off x="1183480" y="2433161"/>
            <a:ext cx="75223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err="1"/>
              <a:t>GoogleNet</a:t>
            </a:r>
            <a:endParaRPr lang="en-GB" sz="3600" dirty="0"/>
          </a:p>
          <a:p>
            <a:pPr lvl="1"/>
            <a:r>
              <a:rPr lang="en-GB" sz="3600" dirty="0"/>
              <a:t>Lightweight, multi-scale Inception modules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ResNet-50</a:t>
            </a:r>
          </a:p>
          <a:p>
            <a:pPr lvl="1"/>
            <a:r>
              <a:rPr lang="en-GB" sz="3600" dirty="0"/>
              <a:t>Deeper architecture with residual connections</a:t>
            </a:r>
          </a:p>
        </p:txBody>
      </p:sp>
    </p:spTree>
    <p:extLst>
      <p:ext uri="{BB962C8B-B14F-4D97-AF65-F5344CB8AC3E}">
        <p14:creationId xmlns:p14="http://schemas.microsoft.com/office/powerpoint/2010/main" val="345325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baselines</a:t>
            </a:r>
          </a:p>
          <a:p>
            <a:r>
              <a:t>SSL-1: SimCLR + GoogleNet</a:t>
            </a:r>
          </a:p>
          <a:p>
            <a:r>
              <a:t>SSL-2: Barlow Twins + GoogleNet</a:t>
            </a:r>
          </a:p>
          <a:p>
            <a:r>
              <a:t>SSL-3: MAE + ResNet-50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Shallow classifiers</a:t>
            </a:r>
          </a:p>
          <a:p>
            <a:r>
              <a:t>Linear probing</a:t>
            </a:r>
          </a:p>
          <a:p>
            <a:r>
              <a:t>kNN on embeddings</a:t>
            </a:r>
          </a:p>
          <a:p>
            <a:r>
              <a:t>Label efficiency analysis</a:t>
            </a:r>
          </a:p>
          <a:p>
            <a:r>
              <a:t>Silhouette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SSL-1: SimCLR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Best accuracy: 0.7354</a:t>
            </a:r>
          </a:p>
          <a:p>
            <a:r>
              <a:rPr dirty="0"/>
              <a:t>Performs best with Random Forest</a:t>
            </a:r>
          </a:p>
          <a:p>
            <a:r>
              <a:rPr dirty="0"/>
              <a:t>Strong non-linear representations</a:t>
            </a:r>
            <a:endParaRPr lang="en-US" dirty="0"/>
          </a:p>
          <a:p>
            <a:r>
              <a:rPr lang="en-GB" dirty="0"/>
              <a:t>Strong label efficiency at low labels</a:t>
            </a:r>
          </a:p>
          <a:p>
            <a:pPr lvl="1"/>
            <a:r>
              <a:rPr lang="en-GB" dirty="0"/>
              <a:t>Over 71% accuracy with 5% labels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SSL-2: Barlow Twins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accuracy: 0.7248</a:t>
            </a:r>
          </a:p>
          <a:p>
            <a:r>
              <a:t>Best with Linear SVM</a:t>
            </a:r>
          </a:p>
          <a:p>
            <a:r>
              <a:t>Highly linearly separable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SSL-3: MAE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overall accuracy: 0.7510</a:t>
            </a:r>
          </a:p>
          <a:p>
            <a:r>
              <a:t>Highest ROC–AUC and kNN accuracy</a:t>
            </a:r>
          </a:p>
          <a:p>
            <a:r>
              <a:t>Best embedding clustering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0A01-5F86-E6F9-7D84-EC773F03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Enhanced Comparison of SSL Methods</a:t>
            </a:r>
            <a:br>
              <a:rPr lang="en-US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202656-5005-3BB6-AE60-6993492ED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179576"/>
              </p:ext>
            </p:extLst>
          </p:nvPr>
        </p:nvGraphicFramePr>
        <p:xfrm>
          <a:off x="1356975" y="2992882"/>
          <a:ext cx="6798734" cy="254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967">
                  <a:extLst>
                    <a:ext uri="{9D8B030D-6E8A-4147-A177-3AD203B41FA5}">
                      <a16:colId xmlns:a16="http://schemas.microsoft.com/office/drawing/2014/main" val="2859174838"/>
                    </a:ext>
                  </a:extLst>
                </a:gridCol>
                <a:gridCol w="781175">
                  <a:extLst>
                    <a:ext uri="{9D8B030D-6E8A-4147-A177-3AD203B41FA5}">
                      <a16:colId xmlns:a16="http://schemas.microsoft.com/office/drawing/2014/main" val="3633459814"/>
                    </a:ext>
                  </a:extLst>
                </a:gridCol>
                <a:gridCol w="704387">
                  <a:extLst>
                    <a:ext uri="{9D8B030D-6E8A-4147-A177-3AD203B41FA5}">
                      <a16:colId xmlns:a16="http://schemas.microsoft.com/office/drawing/2014/main" val="3237891948"/>
                    </a:ext>
                  </a:extLst>
                </a:gridCol>
                <a:gridCol w="658609">
                  <a:extLst>
                    <a:ext uri="{9D8B030D-6E8A-4147-A177-3AD203B41FA5}">
                      <a16:colId xmlns:a16="http://schemas.microsoft.com/office/drawing/2014/main" val="3908262278"/>
                    </a:ext>
                  </a:extLst>
                </a:gridCol>
                <a:gridCol w="570745">
                  <a:extLst>
                    <a:ext uri="{9D8B030D-6E8A-4147-A177-3AD203B41FA5}">
                      <a16:colId xmlns:a16="http://schemas.microsoft.com/office/drawing/2014/main" val="2956629014"/>
                    </a:ext>
                  </a:extLst>
                </a:gridCol>
                <a:gridCol w="570745">
                  <a:extLst>
                    <a:ext uri="{9D8B030D-6E8A-4147-A177-3AD203B41FA5}">
                      <a16:colId xmlns:a16="http://schemas.microsoft.com/office/drawing/2014/main" val="38562014"/>
                    </a:ext>
                  </a:extLst>
                </a:gridCol>
                <a:gridCol w="570745">
                  <a:extLst>
                    <a:ext uri="{9D8B030D-6E8A-4147-A177-3AD203B41FA5}">
                      <a16:colId xmlns:a16="http://schemas.microsoft.com/office/drawing/2014/main" val="652908815"/>
                    </a:ext>
                  </a:extLst>
                </a:gridCol>
                <a:gridCol w="766408">
                  <a:extLst>
                    <a:ext uri="{9D8B030D-6E8A-4147-A177-3AD203B41FA5}">
                      <a16:colId xmlns:a16="http://schemas.microsoft.com/office/drawing/2014/main" val="2472789084"/>
                    </a:ext>
                  </a:extLst>
                </a:gridCol>
                <a:gridCol w="570745">
                  <a:extLst>
                    <a:ext uri="{9D8B030D-6E8A-4147-A177-3AD203B41FA5}">
                      <a16:colId xmlns:a16="http://schemas.microsoft.com/office/drawing/2014/main" val="1881705263"/>
                    </a:ext>
                  </a:extLst>
                </a:gridCol>
                <a:gridCol w="874208">
                  <a:extLst>
                    <a:ext uri="{9D8B030D-6E8A-4147-A177-3AD203B41FA5}">
                      <a16:colId xmlns:a16="http://schemas.microsoft.com/office/drawing/2014/main" val="2663842704"/>
                    </a:ext>
                  </a:extLst>
                </a:gridCol>
              </a:tblGrid>
              <a:tr h="786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SSL Method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Backbone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Best Accuracy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Best Shallow Head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Best kNN Acc.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Linear Probe F1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ROC-AUC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Silhouette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Label Eff. (5%)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Remarks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8091961"/>
                  </a:ext>
                </a:extLst>
              </a:tr>
              <a:tr h="587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SSL-1 (SimCLR)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GoogleNet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0.7354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0.7354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0.5308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0.6432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0.0497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0.7121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Non-linear features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6952306"/>
                  </a:ext>
                </a:extLst>
              </a:tr>
              <a:tr h="587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SSL-2 (Barlow Twins)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GoogleNet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0.7248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Linear SVM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0.7287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0.6582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0.7770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0.0474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0.5853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Linear separability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473514"/>
                  </a:ext>
                </a:extLst>
              </a:tr>
              <a:tr h="587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SSL-3 (MAE)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ResNet-50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0.7510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0.7549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0.6699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0.8014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0.0597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0.6226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Best overall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45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317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E53B-26F4-D980-8038-B03D6E84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&amp; 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272E-4431-EF3B-3358-60E7C85DA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MAE outperforms other SSL methods overall</a:t>
            </a:r>
          </a:p>
          <a:p>
            <a:pPr lvl="1"/>
            <a:r>
              <a:rPr lang="en-GB" dirty="0"/>
              <a:t>Best accuracy, ROC–AUC, clustering</a:t>
            </a:r>
          </a:p>
          <a:p>
            <a:r>
              <a:rPr lang="en-GB" dirty="0" err="1"/>
              <a:t>SimCLR</a:t>
            </a:r>
            <a:r>
              <a:rPr lang="en-GB" dirty="0"/>
              <a:t> benefits from non-linear classifiers</a:t>
            </a:r>
          </a:p>
          <a:p>
            <a:pPr lvl="1"/>
            <a:r>
              <a:rPr lang="en-GB" dirty="0"/>
              <a:t>Rich but less linear features</a:t>
            </a:r>
          </a:p>
          <a:p>
            <a:r>
              <a:rPr lang="en-GB" dirty="0"/>
              <a:t>Barlow Twins excels with linear classifiers</a:t>
            </a:r>
          </a:p>
          <a:p>
            <a:pPr lvl="1"/>
            <a:r>
              <a:rPr lang="en-GB" dirty="0"/>
              <a:t>Highly linearly separable embeddings</a:t>
            </a:r>
          </a:p>
          <a:p>
            <a:r>
              <a:rPr lang="en-GB" dirty="0"/>
              <a:t>All SSL methods improve label efficiency</a:t>
            </a:r>
          </a:p>
          <a:p>
            <a:pPr lvl="1"/>
            <a:r>
              <a:rPr lang="en-GB" dirty="0"/>
              <a:t>Effective in low-label regimes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5257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Self-supervised learning is effective for low-label classification</a:t>
            </a:r>
          </a:p>
          <a:p>
            <a:pPr lvl="1"/>
            <a:r>
              <a:rPr lang="en-GB" dirty="0"/>
              <a:t>Improves representation quality</a:t>
            </a:r>
          </a:p>
          <a:p>
            <a:r>
              <a:rPr lang="en-GB" dirty="0"/>
              <a:t>MAE + ResNet-50 is the most robust approach</a:t>
            </a:r>
          </a:p>
          <a:p>
            <a:pPr lvl="1"/>
            <a:r>
              <a:rPr lang="en-GB" dirty="0"/>
              <a:t>Consistent performance across metrics</a:t>
            </a:r>
          </a:p>
          <a:p>
            <a:r>
              <a:rPr lang="en-GB" dirty="0"/>
              <a:t>SSL provides a scalable alternative to supervised learning</a:t>
            </a:r>
          </a:p>
          <a:p>
            <a:pPr lvl="1"/>
            <a:r>
              <a:rPr lang="en-GB" dirty="0"/>
              <a:t>Reduces dependency on </a:t>
            </a:r>
            <a:r>
              <a:rPr lang="en-GB" dirty="0" err="1"/>
              <a:t>labeled</a:t>
            </a:r>
            <a:r>
              <a:rPr lang="en-GB" dirty="0"/>
              <a:t> data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360</Words>
  <Application>Microsoft Office PowerPoint</Application>
  <PresentationFormat>On-screen Show (4:3)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Cambria</vt:lpstr>
      <vt:lpstr>Garamond</vt:lpstr>
      <vt:lpstr>Organic</vt:lpstr>
      <vt:lpstr>Self-Supervised Learning for Image Classification</vt:lpstr>
      <vt:lpstr>Motivation</vt:lpstr>
      <vt:lpstr>Dataset &amp; EDA</vt:lpstr>
      <vt:lpstr>Preprocessing</vt:lpstr>
      <vt:lpstr>PowerPoint Presentation</vt:lpstr>
      <vt:lpstr>Methods</vt:lpstr>
      <vt:lpstr>Evaluation Protocol</vt:lpstr>
      <vt:lpstr>SSL-1: SimCLR Results</vt:lpstr>
      <vt:lpstr>SSL-2: Barlow Twins Results</vt:lpstr>
      <vt:lpstr>SSL-3: MAE Results</vt:lpstr>
      <vt:lpstr>Enhanced Comparison of SSL Methods </vt:lpstr>
      <vt:lpstr>Comparison &amp;  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Shadman Shakib Dip</cp:lastModifiedBy>
  <cp:revision>4</cp:revision>
  <dcterms:created xsi:type="dcterms:W3CDTF">2013-01-27T09:14:16Z</dcterms:created>
  <dcterms:modified xsi:type="dcterms:W3CDTF">2025-12-16T15:30:31Z</dcterms:modified>
  <cp:category/>
</cp:coreProperties>
</file>