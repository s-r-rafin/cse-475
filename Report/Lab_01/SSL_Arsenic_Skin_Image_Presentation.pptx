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7" r:id="rId7"/>
    <p:sldId id="266" r:id="rId8"/>
    <p:sldId id="265" r:id="rId9"/>
    <p:sldId id="260" r:id="rId10"/>
    <p:sldId id="268" r:id="rId11"/>
    <p:sldId id="269" r:id="rId12"/>
    <p:sldId id="261" r:id="rId13"/>
    <p:sldId id="270" r:id="rId14"/>
    <p:sldId id="273" r:id="rId15"/>
    <p:sldId id="271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60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33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2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2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1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9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1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3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0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 Black" panose="020B0A04020102020204" pitchFamily="34" charset="0"/>
              </a:rPr>
              <a:t>Self-Supervised Learning for Arsenic Skin Image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5475"/>
            <a:ext cx="8229600" cy="4230688"/>
          </a:xfrm>
        </p:spPr>
        <p:txBody>
          <a:bodyPr/>
          <a:lstStyle/>
          <a:p>
            <a:r>
              <a:rPr dirty="0"/>
              <a:t>Chosen Methods: </a:t>
            </a:r>
            <a:r>
              <a:rPr dirty="0" err="1"/>
              <a:t>SimCLR</a:t>
            </a:r>
            <a:r>
              <a:rPr dirty="0"/>
              <a:t>, Barlow Twins, MAE</a:t>
            </a:r>
            <a:endParaRPr lang="en-US" dirty="0"/>
          </a:p>
          <a:p>
            <a:endParaRPr dirty="0"/>
          </a:p>
          <a:p>
            <a:r>
              <a:rPr dirty="0"/>
              <a:t>Dataset: Arsenic Skin Image BD (Mendeley)</a:t>
            </a:r>
            <a:endParaRPr lang="en-US" dirty="0"/>
          </a:p>
          <a:p>
            <a:endParaRPr dirty="0"/>
          </a:p>
          <a:p>
            <a:r>
              <a:rPr dirty="0"/>
              <a:t>Focus: Binary Classification (Healthy vs </a:t>
            </a:r>
            <a:r>
              <a:rPr dirty="0" err="1"/>
              <a:t>Arsenicosis</a:t>
            </a:r>
            <a:r>
              <a:rPr dirty="0"/>
              <a:t>-affected)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- 1.5K original + 8.9K augmented images</a:t>
            </a:r>
          </a:p>
          <a:p>
            <a:r>
              <a:t>- Smartphone-captured real-world skin photos</a:t>
            </a:r>
          </a:p>
          <a:p>
            <a:r>
              <a:t>- Binary labels: Healthy / Affected</a:t>
            </a:r>
          </a:p>
          <a:p>
            <a:r>
              <a:t>- Goal: Learn robust skin features without labels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5AA2-5229-981A-A8EA-9EFDC75A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28257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Implications for SSL choice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B4E2128-7A2A-3240-003E-699B86D13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499" y="1417638"/>
            <a:ext cx="82296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Images: use computer vision SSL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dataset (1.5k originals,8.9k augmented) → SSL helps learn features without many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Variations in lighting, cameras, skin texture → need methods robust to such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 (healthy vs affected) → SSL should produce strong embeddings for fine-tuning.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intra-class variability → choose SSL that enforces intra-class invariance and inter-class discrimination.</a:t>
            </a:r>
          </a:p>
        </p:txBody>
      </p:sp>
    </p:spTree>
    <p:extLst>
      <p:ext uri="{BB962C8B-B14F-4D97-AF65-F5344CB8AC3E}">
        <p14:creationId xmlns:p14="http://schemas.microsoft.com/office/powerpoint/2010/main" val="129609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Chosen SSL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</a:t>
            </a:r>
            <a:r>
              <a:rPr dirty="0" err="1"/>
              <a:t>SimCLR</a:t>
            </a:r>
            <a:r>
              <a:rPr dirty="0"/>
              <a:t> – Contrastive Learning (with negatives)</a:t>
            </a:r>
          </a:p>
          <a:p>
            <a:r>
              <a:rPr dirty="0"/>
              <a:t> Barlow Twins – Redundancy Reduction (no negatives)</a:t>
            </a:r>
          </a:p>
          <a:p>
            <a:r>
              <a:rPr dirty="0"/>
              <a:t> MAE – Masked Autoencoder (reconstruction)</a:t>
            </a:r>
          </a:p>
          <a:p>
            <a:r>
              <a:rPr dirty="0"/>
              <a:t>All three fit small/medium image datasets and subtle skin texture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" y="254535"/>
            <a:ext cx="8553450" cy="1143000"/>
          </a:xfrm>
        </p:spPr>
        <p:txBody>
          <a:bodyPr>
            <a:normAutofit/>
          </a:bodyPr>
          <a:lstStyle/>
          <a:p>
            <a:r>
              <a:rPr dirty="0" err="1">
                <a:latin typeface="Arial Black" panose="020B0A04020102020204" pitchFamily="34" charset="0"/>
              </a:rPr>
              <a:t>SimCLR</a:t>
            </a:r>
            <a:r>
              <a:rPr dirty="0">
                <a:latin typeface="Arial Black" panose="020B0A04020102020204" pitchFamily="34" charset="0"/>
              </a:rPr>
              <a:t>: Contrastive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CE239-AF64-9DB7-8586-E71759026CCF}"/>
              </a:ext>
            </a:extLst>
          </p:cNvPr>
          <p:cNvSpPr txBox="1"/>
          <p:nvPr/>
        </p:nvSpPr>
        <p:spPr>
          <a:xfrm>
            <a:off x="895350" y="1674813"/>
            <a:ext cx="61245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What it is:</a:t>
            </a:r>
          </a:p>
          <a:p>
            <a:pPr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b="1" dirty="0"/>
              <a:t>self-supervised learning (SSL)</a:t>
            </a:r>
            <a:r>
              <a:rPr lang="en-GB" sz="2400" dirty="0"/>
              <a:t> method for images.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Learns </a:t>
            </a:r>
            <a:r>
              <a:rPr lang="en-GB" sz="2400" b="1" dirty="0"/>
              <a:t>feature representations</a:t>
            </a:r>
            <a:r>
              <a:rPr lang="en-GB" sz="2400" dirty="0"/>
              <a:t> without needing labels.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Focuses on </a:t>
            </a:r>
            <a:r>
              <a:rPr lang="en-GB" sz="2400" b="1" dirty="0"/>
              <a:t>similarity between augmented versions</a:t>
            </a:r>
            <a:r>
              <a:rPr lang="en-GB" sz="2400" dirty="0"/>
              <a:t> of the same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282C-F5F6-7EE0-A854-64D4FA53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8D55-F176-CB98-022A-2836DD144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74638"/>
            <a:ext cx="8553450" cy="1143000"/>
          </a:xfrm>
        </p:spPr>
        <p:txBody>
          <a:bodyPr>
            <a:normAutofit/>
          </a:bodyPr>
          <a:lstStyle/>
          <a:p>
            <a:r>
              <a:rPr dirty="0" err="1">
                <a:latin typeface="Arial Black" panose="020B0A04020102020204" pitchFamily="34" charset="0"/>
              </a:rPr>
              <a:t>SimCLR</a:t>
            </a:r>
            <a:r>
              <a:rPr dirty="0">
                <a:latin typeface="Arial Black" panose="020B0A04020102020204" pitchFamily="34" charset="0"/>
              </a:rPr>
              <a:t>: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39E7D-846D-CDB6-3C7F-D33947AB4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03381-F62A-2709-0BEF-44256CA42A49}"/>
              </a:ext>
            </a:extLst>
          </p:cNvPr>
          <p:cNvSpPr txBox="1"/>
          <p:nvPr/>
        </p:nvSpPr>
        <p:spPr>
          <a:xfrm>
            <a:off x="704849" y="1809750"/>
            <a:ext cx="6886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Why suitable for our dataset:</a:t>
            </a:r>
          </a:p>
          <a:p>
            <a:pPr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Already has </a:t>
            </a:r>
            <a:r>
              <a:rPr lang="en-GB" sz="2400" b="1" dirty="0"/>
              <a:t>augmented images</a:t>
            </a:r>
            <a:r>
              <a:rPr lang="en-GB" sz="2400" dirty="0"/>
              <a:t>, perfect for </a:t>
            </a:r>
            <a:r>
              <a:rPr lang="en-GB" sz="2400" dirty="0" err="1"/>
              <a:t>SimCLR</a:t>
            </a:r>
            <a:r>
              <a:rPr lang="en-GB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Can learn robust representations with </a:t>
            </a:r>
            <a:r>
              <a:rPr lang="en-GB" sz="2400" b="1" dirty="0"/>
              <a:t>few labels</a:t>
            </a:r>
            <a:r>
              <a:rPr lang="en-GB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Handles </a:t>
            </a:r>
            <a:r>
              <a:rPr lang="en-GB" sz="2400" b="1" dirty="0"/>
              <a:t>variations</a:t>
            </a:r>
            <a:r>
              <a:rPr lang="en-GB" sz="2400" dirty="0"/>
              <a:t> (lighting, angle, texture) in skin images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74357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A3AE-A96B-4C4B-01D4-A73B8DF4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1DA4-2ED9-07EC-A97A-D6AF6350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4" y="263526"/>
            <a:ext cx="8582025" cy="1143000"/>
          </a:xfrm>
        </p:spPr>
        <p:txBody>
          <a:bodyPr>
            <a:normAutofit/>
          </a:bodyPr>
          <a:lstStyle/>
          <a:p>
            <a:r>
              <a:rPr dirty="0" err="1">
                <a:latin typeface="Arial Black" panose="020B0A04020102020204" pitchFamily="34" charset="0"/>
              </a:rPr>
              <a:t>SimCLR</a:t>
            </a:r>
            <a:r>
              <a:rPr dirty="0">
                <a:latin typeface="Arial Black" panose="020B0A04020102020204" pitchFamily="34" charset="0"/>
              </a:rPr>
              <a:t>: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76F0-26F8-EB20-F26C-0072904B7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9C82F-7D35-1F60-1751-1E96C4E3976A}"/>
              </a:ext>
            </a:extLst>
          </p:cNvPr>
          <p:cNvSpPr txBox="1"/>
          <p:nvPr/>
        </p:nvSpPr>
        <p:spPr>
          <a:xfrm>
            <a:off x="428625" y="1522869"/>
            <a:ext cx="87153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Why it’s called “Contrastive”:</a:t>
            </a:r>
          </a:p>
          <a:p>
            <a:pPr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It </a:t>
            </a:r>
            <a:r>
              <a:rPr lang="en-GB" sz="2400" b="1" dirty="0"/>
              <a:t>contrasts positive and negative pairs</a:t>
            </a:r>
            <a:r>
              <a:rPr lang="en-GB" sz="2400" dirty="0"/>
              <a:t> to learn meaningful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Objective: make similar things close, dissimilar things distant in feature space.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b="1" dirty="0"/>
              <a:t>Positive pair:</a:t>
            </a:r>
            <a:endParaRPr lang="en-GB" sz="2400" dirty="0"/>
          </a:p>
          <a:p>
            <a:r>
              <a:rPr lang="en-GB" sz="2400" dirty="0"/>
              <a:t>Two images that are </a:t>
            </a:r>
            <a:r>
              <a:rPr lang="en-GB" sz="2400" b="1" dirty="0"/>
              <a:t>different views of the same original image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r>
              <a:rPr lang="en-GB" sz="2400" b="1" dirty="0"/>
              <a:t>Negative pair:</a:t>
            </a:r>
            <a:endParaRPr lang="en-GB" sz="2400" dirty="0"/>
          </a:p>
          <a:p>
            <a:r>
              <a:rPr lang="en-GB" sz="2400" dirty="0"/>
              <a:t>Two images that come from </a:t>
            </a:r>
            <a:r>
              <a:rPr lang="en-GB" sz="2400" b="1" dirty="0"/>
              <a:t>different original images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10439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4EED-B8B8-515B-BD04-16EABF3E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" y="273051"/>
            <a:ext cx="8657412" cy="1143000"/>
          </a:xfrm>
        </p:spPr>
        <p:txBody>
          <a:bodyPr>
            <a:normAutofit/>
          </a:bodyPr>
          <a:lstStyle/>
          <a:p>
            <a:r>
              <a:rPr lang="en-GB" dirty="0" err="1">
                <a:latin typeface="Arial Black" panose="020B0A04020102020204" pitchFamily="34" charset="0"/>
              </a:rPr>
              <a:t>SimCLR</a:t>
            </a:r>
            <a:r>
              <a:rPr lang="en-GB" dirty="0">
                <a:latin typeface="Arial Black" panose="020B0A04020102020204" pitchFamily="34" charset="0"/>
              </a:rPr>
              <a:t>: Contrastive Learning</a:t>
            </a:r>
          </a:p>
        </p:txBody>
      </p:sp>
      <p:pic>
        <p:nvPicPr>
          <p:cNvPr id="1026" name="Picture 2" descr="Understanding SimCLR, a framework for contrastive learning - Egnyte Blog">
            <a:extLst>
              <a:ext uri="{FF2B5EF4-FFF2-40B4-BE49-F238E27FC236}">
                <a16:creationId xmlns:a16="http://schemas.microsoft.com/office/drawing/2014/main" id="{CA12ACBB-4192-DAD4-E279-2EC4EC702C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150" y="2480900"/>
            <a:ext cx="6446838" cy="304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420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48626" cy="1143000"/>
          </a:xfrm>
        </p:spPr>
        <p:txBody>
          <a:bodyPr>
            <a:noAutofit/>
          </a:bodyPr>
          <a:lstStyle/>
          <a:p>
            <a:r>
              <a:rPr sz="3600" dirty="0">
                <a:latin typeface="Arial Black" panose="020B0A04020102020204" pitchFamily="34" charset="0"/>
              </a:rPr>
              <a:t>Barlow Twins: Redundancy Reduction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74D9F-2636-4408-B31B-E6D64C44B5B1}"/>
              </a:ext>
            </a:extLst>
          </p:cNvPr>
          <p:cNvSpPr txBox="1"/>
          <p:nvPr/>
        </p:nvSpPr>
        <p:spPr>
          <a:xfrm>
            <a:off x="719137" y="1817549"/>
            <a:ext cx="77057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Idea:</a:t>
            </a:r>
          </a:p>
          <a:p>
            <a:pPr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Take two views of the same image → make their representations similar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Also, make each feature dimension different (decorrelated)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No explicit negatives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D7F7-1BC5-E8C0-BB9A-2268ED03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Barlow Twins: Redundancy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B591-0579-6B19-1D31-A497251D0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it fits:</a:t>
            </a:r>
            <a:endParaRPr lang="en-GB" dirty="0"/>
          </a:p>
          <a:p>
            <a:r>
              <a:rPr lang="en-GB" dirty="0"/>
              <a:t>Dataset is moderate → no need for huge negative sets</a:t>
            </a:r>
          </a:p>
          <a:p>
            <a:r>
              <a:rPr lang="en-GB" dirty="0"/>
              <a:t>Captures texture, </a:t>
            </a:r>
            <a:r>
              <a:rPr lang="en-GB" dirty="0" err="1"/>
              <a:t>color</a:t>
            </a:r>
            <a:r>
              <a:rPr lang="en-GB" dirty="0"/>
              <a:t>, lesion shapes</a:t>
            </a:r>
          </a:p>
          <a:p>
            <a:r>
              <a:rPr lang="en-GB" dirty="0"/>
              <a:t>Produces robust embeddings from variable images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5933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9F06-5047-0FE0-97F5-BCB19D92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Barlow Twins: Redundancy Reduction</a:t>
            </a:r>
          </a:p>
        </p:txBody>
      </p:sp>
      <p:pic>
        <p:nvPicPr>
          <p:cNvPr id="2050" name="Picture 2" descr="2103.03230] Barlow Twins: Self-Supervised Learning via Redundancy Reduction">
            <a:extLst>
              <a:ext uri="{FF2B5EF4-FFF2-40B4-BE49-F238E27FC236}">
                <a16:creationId xmlns:a16="http://schemas.microsoft.com/office/drawing/2014/main" id="{4CCB0D2F-F3C6-9604-55B3-43DCB16BB0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150" y="2273163"/>
            <a:ext cx="6446838" cy="346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51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 Black" panose="020B0A04020102020204" pitchFamily="34" charset="0"/>
              </a:rPr>
              <a:t>MAE: Masked Autoencoder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69C3A-7F78-06FE-806F-065877C8429B}"/>
              </a:ext>
            </a:extLst>
          </p:cNvPr>
          <p:cNvSpPr txBox="1"/>
          <p:nvPr/>
        </p:nvSpPr>
        <p:spPr>
          <a:xfrm>
            <a:off x="704850" y="1522363"/>
            <a:ext cx="68008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Idea:</a:t>
            </a:r>
          </a:p>
          <a:p>
            <a:pPr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Hide random parts of the image → network predicts missing parts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Forces model to learn subtle skin patterns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Learns </a:t>
            </a:r>
            <a:r>
              <a:rPr lang="en-GB" sz="2400" i="1" dirty="0"/>
              <a:t>global structure</a:t>
            </a:r>
            <a:r>
              <a:rPr lang="en-GB" sz="2400" dirty="0"/>
              <a:t> (overall skin region) and </a:t>
            </a:r>
            <a:r>
              <a:rPr lang="en-GB" sz="2400" i="1" dirty="0"/>
              <a:t>local details</a:t>
            </a:r>
            <a:r>
              <a:rPr lang="en-GB" sz="2400" dirty="0"/>
              <a:t> (spots, texture)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Works efficiently — only a part of the image is processed (less computation)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004D-7EC4-5204-5DBA-6C7E0429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MAE: Masked Autoencoder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6A426-8D1F-69CA-54F9-93207739D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Why it fits:</a:t>
            </a:r>
          </a:p>
          <a:p>
            <a:endParaRPr lang="en-GB" dirty="0"/>
          </a:p>
          <a:p>
            <a:r>
              <a:rPr lang="en-GB" dirty="0"/>
              <a:t>Captures skin texture and lesion details</a:t>
            </a:r>
          </a:p>
          <a:p>
            <a:endParaRPr lang="en-GB" dirty="0"/>
          </a:p>
          <a:p>
            <a:r>
              <a:rPr lang="en-GB" dirty="0"/>
              <a:t>Uses all images (</a:t>
            </a:r>
            <a:r>
              <a:rPr lang="en-GB" dirty="0" err="1"/>
              <a:t>labeled</a:t>
            </a:r>
            <a:r>
              <a:rPr lang="en-GB" dirty="0"/>
              <a:t> + </a:t>
            </a:r>
            <a:r>
              <a:rPr lang="en-GB" dirty="0" err="1"/>
              <a:t>unlabeled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Good for few </a:t>
            </a:r>
            <a:r>
              <a:rPr lang="en-GB" dirty="0" err="1"/>
              <a:t>labeled</a:t>
            </a:r>
            <a:r>
              <a:rPr lang="en-GB" dirty="0"/>
              <a:t> examples → learn embeddings first, then fine-tune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37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04BB5-8BA3-5C8C-B7BA-082A544F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MAE: Masked Autoencoder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CC968D-26C0-039B-438D-39A32EF1E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150" y="2513638"/>
            <a:ext cx="6446838" cy="2981662"/>
          </a:xfrm>
        </p:spPr>
      </p:pic>
    </p:spTree>
    <p:extLst>
      <p:ext uri="{BB962C8B-B14F-4D97-AF65-F5344CB8AC3E}">
        <p14:creationId xmlns:p14="http://schemas.microsoft.com/office/powerpoint/2010/main" val="1243687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1DEB-1CE9-71F5-EDEC-E2357DEE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53" y="138377"/>
            <a:ext cx="7654671" cy="1325562"/>
          </a:xfrm>
        </p:spPr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MAE: Masked Autoencoder</a:t>
            </a:r>
          </a:p>
        </p:txBody>
      </p:sp>
      <p:sp>
        <p:nvSpPr>
          <p:cNvPr id="8" name="AutoShape 10" descr="Masked AutoEncoders. Masked AutoEncoder is a simple… | by Prakash Jay |  Medium">
            <a:extLst>
              <a:ext uri="{FF2B5EF4-FFF2-40B4-BE49-F238E27FC236}">
                <a16:creationId xmlns:a16="http://schemas.microsoft.com/office/drawing/2014/main" id="{2C306EF3-BCD2-CF1B-4A33-5F3E943BD0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12" descr="Paper reading | VideoMAE: Masked Autoencoders are Data-Efficient Learners  for Self-Supervised Video Pre-Training">
            <a:extLst>
              <a:ext uri="{FF2B5EF4-FFF2-40B4-BE49-F238E27FC236}">
                <a16:creationId xmlns:a16="http://schemas.microsoft.com/office/drawing/2014/main" id="{0DCCD2FC-CAC7-4A2C-F010-A4E8AE78B4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86" name="Picture 14">
            <a:extLst>
              <a:ext uri="{FF2B5EF4-FFF2-40B4-BE49-F238E27FC236}">
                <a16:creationId xmlns:a16="http://schemas.microsoft.com/office/drawing/2014/main" id="{59568B6A-20FD-D227-1C87-F4DC8B3CF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2" y="1612529"/>
            <a:ext cx="6467475" cy="477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75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 Black" panose="020B0A04020102020204" pitchFamily="34" charset="0"/>
              </a:rPr>
              <a:t>Why Not Other SSL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BYOL / </a:t>
            </a:r>
            <a:r>
              <a:rPr dirty="0" err="1"/>
              <a:t>SimSiam</a:t>
            </a:r>
            <a:r>
              <a:rPr dirty="0"/>
              <a:t> – collapse risk on small data</a:t>
            </a:r>
            <a:r>
              <a:rPr lang="en-US" dirty="0"/>
              <a:t>.</a:t>
            </a:r>
          </a:p>
          <a:p>
            <a:endParaRPr dirty="0"/>
          </a:p>
          <a:p>
            <a:r>
              <a:rPr dirty="0"/>
              <a:t> </a:t>
            </a:r>
            <a:r>
              <a:rPr dirty="0" err="1"/>
              <a:t>VICReg</a:t>
            </a:r>
            <a:r>
              <a:rPr dirty="0"/>
              <a:t> – complex tuning, large-batch needed</a:t>
            </a:r>
            <a:r>
              <a:rPr lang="en-US" dirty="0"/>
              <a:t>.</a:t>
            </a:r>
          </a:p>
          <a:p>
            <a:endParaRPr dirty="0"/>
          </a:p>
          <a:p>
            <a:r>
              <a:rPr dirty="0"/>
              <a:t> DINO/</a:t>
            </a:r>
            <a:r>
              <a:rPr dirty="0" err="1"/>
              <a:t>iBOT</a:t>
            </a:r>
            <a:r>
              <a:rPr dirty="0"/>
              <a:t> – needs </a:t>
            </a:r>
            <a:r>
              <a:rPr dirty="0" err="1"/>
              <a:t>ViT</a:t>
            </a:r>
            <a:r>
              <a:rPr dirty="0"/>
              <a:t> &amp; big compute</a:t>
            </a:r>
            <a:r>
              <a:rPr lang="en-US" dirty="0"/>
              <a:t>.</a:t>
            </a:r>
          </a:p>
          <a:p>
            <a:endParaRPr dirty="0"/>
          </a:p>
          <a:p>
            <a:r>
              <a:rPr dirty="0"/>
              <a:t> </a:t>
            </a:r>
            <a:r>
              <a:rPr dirty="0" err="1"/>
              <a:t>SwaV</a:t>
            </a:r>
            <a:r>
              <a:rPr dirty="0"/>
              <a:t> – clustering fails for 2-class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81</TotalTime>
  <Words>537</Words>
  <Application>Microsoft Office PowerPoint</Application>
  <PresentationFormat>On-screen Show (4:3)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Century Schoolbook</vt:lpstr>
      <vt:lpstr>Wingdings 2</vt:lpstr>
      <vt:lpstr>View</vt:lpstr>
      <vt:lpstr>Self-Supervised Learning for Arsenic Skin Image Dataset</vt:lpstr>
      <vt:lpstr>Dataset Overview</vt:lpstr>
      <vt:lpstr>Implications for SSL choice</vt:lpstr>
      <vt:lpstr>Chosen SSL Methods</vt:lpstr>
      <vt:lpstr>SimCLR: Contrastive Learning</vt:lpstr>
      <vt:lpstr>SimCLR: Contrastive Learning</vt:lpstr>
      <vt:lpstr>SimCLR: Contrastive Learning</vt:lpstr>
      <vt:lpstr>SimCLR: Contrastive Learning</vt:lpstr>
      <vt:lpstr>Barlow Twins: Redundancy Reduction</vt:lpstr>
      <vt:lpstr>Barlow Twins: Redundancy Reduction</vt:lpstr>
      <vt:lpstr>Barlow Twins: Redundancy Reduction</vt:lpstr>
      <vt:lpstr>MAE: Masked Autoencoder</vt:lpstr>
      <vt:lpstr>MAE: Masked Autoencoder</vt:lpstr>
      <vt:lpstr>MAE: Masked Autoencoder</vt:lpstr>
      <vt:lpstr>MAE: Masked Autoencoder</vt:lpstr>
      <vt:lpstr>Why Not Other SSL Models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Shahedur Rahman Rafin</cp:lastModifiedBy>
  <cp:revision>4</cp:revision>
  <dcterms:created xsi:type="dcterms:W3CDTF">2013-01-27T09:14:16Z</dcterms:created>
  <dcterms:modified xsi:type="dcterms:W3CDTF">2025-11-05T02:04:07Z</dcterms:modified>
  <cp:category/>
</cp:coreProperties>
</file>